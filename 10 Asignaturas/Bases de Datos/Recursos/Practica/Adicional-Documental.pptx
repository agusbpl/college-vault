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9144000" cy="6858000" type="screen4x3"/>
  <p:notesSz cx="6858000" cy="9144000"/>
  <p:embeddedFontLst>
    <p:embeddedFont>
      <p:font typeface="Open Sans" panose="020B0606030504020204" pitchFamily="34" charset="0"/>
      <p:regular r:id="rId12"/>
      <p:bold r:id="rId13"/>
      <p:italic r:id="rId14"/>
      <p:boldItalic r:id="rId15"/>
    </p:embeddedFont>
    <p:embeddedFont>
      <p:font typeface="PT Sans Narrow" panose="020B0506020203020204" pitchFamily="3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LbEjrENmY+h2+domo1BRo+2Rk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930" y="4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56b8eed54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" name="Google Shape;70;g3656b8eed5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3656b8eed54_0_286"/>
          <p:cNvCxnSpPr/>
          <p:nvPr/>
        </p:nvCxnSpPr>
        <p:spPr>
          <a:xfrm>
            <a:off x="7007735" y="4235850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g3656b8eed54_0_286"/>
          <p:cNvCxnSpPr/>
          <p:nvPr/>
        </p:nvCxnSpPr>
        <p:spPr>
          <a:xfrm>
            <a:off x="1575035" y="421100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g3656b8eed54_0_286"/>
          <p:cNvGrpSpPr/>
          <p:nvPr/>
        </p:nvGrpSpPr>
        <p:grpSpPr>
          <a:xfrm>
            <a:off x="1004144" y="1362666"/>
            <a:ext cx="7136668" cy="203195"/>
            <a:chOff x="1346429" y="1011300"/>
            <a:chExt cx="6452100" cy="152400"/>
          </a:xfrm>
        </p:grpSpPr>
        <p:cxnSp>
          <p:nvCxnSpPr>
            <p:cNvPr id="13" name="Google Shape;13;g3656b8eed54_0_286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g3656b8eed54_0_286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g3656b8eed54_0_286"/>
          <p:cNvGrpSpPr/>
          <p:nvPr/>
        </p:nvGrpSpPr>
        <p:grpSpPr>
          <a:xfrm>
            <a:off x="1004151" y="5292001"/>
            <a:ext cx="7136668" cy="203195"/>
            <a:chOff x="1346435" y="3969088"/>
            <a:chExt cx="6452100" cy="152400"/>
          </a:xfrm>
        </p:grpSpPr>
        <p:cxnSp>
          <p:nvCxnSpPr>
            <p:cNvPr id="16" name="Google Shape;16;g3656b8eed54_0_286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g3656b8eed54_0_286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g3656b8eed54_0_286"/>
          <p:cNvSpPr txBox="1">
            <a:spLocks noGrp="1"/>
          </p:cNvSpPr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g3656b8eed54_0_286"/>
          <p:cNvSpPr txBox="1">
            <a:spLocks noGrp="1"/>
          </p:cNvSpPr>
          <p:nvPr>
            <p:ph type="subTitle" idx="1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g3656b8eed54_0_28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656b8eed54_0_3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656b8eed54_0_3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g3656b8eed54_0_3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g3656b8eed54_0_3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g3656b8eed54_0_3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656b8eed54_0_298"/>
          <p:cNvSpPr/>
          <p:nvPr/>
        </p:nvSpPr>
        <p:spPr>
          <a:xfrm>
            <a:off x="-50" y="3429200"/>
            <a:ext cx="9144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656b8eed54_0_298"/>
          <p:cNvSpPr txBox="1">
            <a:spLocks noGrp="1"/>
          </p:cNvSpPr>
          <p:nvPr>
            <p:ph type="title"/>
          </p:nvPr>
        </p:nvSpPr>
        <p:spPr>
          <a:xfrm>
            <a:off x="311700" y="1086400"/>
            <a:ext cx="85713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656b8eed54_0_29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656b8eed54_0_302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656b8eed54_0_30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3656b8eed54_0_302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g3656b8eed54_0_30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656b8eed54_0_30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656b8eed54_0_307"/>
          <p:cNvSpPr txBox="1">
            <a:spLocks noGrp="1"/>
          </p:cNvSpPr>
          <p:nvPr>
            <p:ph type="body" idx="1"/>
          </p:nvPr>
        </p:nvSpPr>
        <p:spPr>
          <a:xfrm>
            <a:off x="311700" y="1688233"/>
            <a:ext cx="3999900" cy="4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g3656b8eed54_0_307"/>
          <p:cNvSpPr txBox="1">
            <a:spLocks noGrp="1"/>
          </p:cNvSpPr>
          <p:nvPr>
            <p:ph type="body" idx="2"/>
          </p:nvPr>
        </p:nvSpPr>
        <p:spPr>
          <a:xfrm>
            <a:off x="4832400" y="1688233"/>
            <a:ext cx="3999900" cy="4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g3656b8eed54_0_30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656b8eed54_0_31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3656b8eed54_0_3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656b8eed54_0_315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g3656b8eed54_0_315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Google Shape;47;g3656b8eed54_0_3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56b8eed54_0_319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136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g3656b8eed54_0_3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56b8eed54_0_32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g3656b8eed54_0_322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g3656b8eed54_0_322"/>
          <p:cNvSpPr txBox="1">
            <a:spLocks noGrp="1"/>
          </p:cNvSpPr>
          <p:nvPr>
            <p:ph type="title"/>
          </p:nvPr>
        </p:nvSpPr>
        <p:spPr>
          <a:xfrm>
            <a:off x="265500" y="1386233"/>
            <a:ext cx="4045200" cy="22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5" name="Google Shape;55;g3656b8eed54_0_322"/>
          <p:cNvSpPr txBox="1">
            <a:spLocks noGrp="1"/>
          </p:cNvSpPr>
          <p:nvPr>
            <p:ph type="subTitle" idx="1"/>
          </p:nvPr>
        </p:nvSpPr>
        <p:spPr>
          <a:xfrm>
            <a:off x="265500" y="36358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6" name="Google Shape;56;g3656b8eed54_0_322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g3656b8eed54_0_3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56b8eed54_0_329"/>
          <p:cNvSpPr txBox="1">
            <a:spLocks noGrp="1"/>
          </p:cNvSpPr>
          <p:nvPr>
            <p:ph type="body" idx="1"/>
          </p:nvPr>
        </p:nvSpPr>
        <p:spPr>
          <a:xfrm>
            <a:off x="311700" y="56409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60" name="Google Shape;60;g3656b8eed54_0_32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56b8eed54_0_332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656b8eed54_0_332"/>
          <p:cNvSpPr txBox="1">
            <a:spLocks noGrp="1"/>
          </p:cNvSpPr>
          <p:nvPr>
            <p:ph type="title" hasCustomPrompt="1"/>
          </p:nvPr>
        </p:nvSpPr>
        <p:spPr>
          <a:xfrm>
            <a:off x="311700" y="1739800"/>
            <a:ext cx="8520600" cy="20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g3656b8eed54_0_332"/>
          <p:cNvSpPr txBox="1">
            <a:spLocks noGrp="1"/>
          </p:cNvSpPr>
          <p:nvPr>
            <p:ph type="body" idx="1"/>
          </p:nvPr>
        </p:nvSpPr>
        <p:spPr>
          <a:xfrm>
            <a:off x="311700" y="3994200"/>
            <a:ext cx="85206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g3656b8eed54_0_33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56b8eed54_0_33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56b8eed54_0_28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g3656b8eed54_0_282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g3656b8eed54_0_28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56b8eed54_0_73"/>
          <p:cNvSpPr txBox="1">
            <a:spLocks noGrp="1"/>
          </p:cNvSpPr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Bases de Datos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3" name="Google Shape;73;g3656b8eed54_0_73"/>
          <p:cNvSpPr txBox="1">
            <a:spLocks noGrp="1"/>
          </p:cNvSpPr>
          <p:nvPr>
            <p:ph type="subTitle" idx="1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dirty="0"/>
              <a:t>Documental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dirty="0"/>
              <a:t>MongoDB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009668"/>
                </a:solidFill>
              </a:rPr>
              <a:t>Problema: perfil de usuario</a:t>
            </a:r>
            <a:endParaRPr b="1">
              <a:solidFill>
                <a:srgbClr val="009668"/>
              </a:solidFill>
            </a:endParaRPr>
          </a:p>
        </p:txBody>
      </p:sp>
      <p:sp>
        <p:nvSpPr>
          <p:cNvPr id="1001" name="Body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200"/>
              <a:buChar char="●"/>
            </a:pPr>
            <a:r>
              <a:rPr lang="en-US" sz="2200">
                <a:solidFill>
                  <a:srgbClr val="695D46"/>
                </a:solidFill>
              </a:rPr>
              <a:t>Toda persona registrada tiene un perfil público: nombre, apellido y una bio de texto libre.</a:t>
            </a:r>
            <a:endParaRPr sz="2200">
              <a:solidFill>
                <a:srgbClr val="695D46"/>
              </a:solidFill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9668"/>
              </a:buClr>
              <a:buSzPts val="2200"/>
              <a:buChar char="●"/>
            </a:pPr>
            <a:r>
              <a:rPr lang="en-US" sz="2200">
                <a:solidFill>
                  <a:srgbClr val="695D46"/>
                </a:solidFill>
              </a:rPr>
              <a:t>Puede cargar cualquier cantidad de experiencias laborales: empresa, cargo, año de inicio y año de fin.</a:t>
            </a:r>
            <a:endParaRPr sz="2200">
              <a:solidFill>
                <a:srgbClr val="695D46"/>
              </a:solidFill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9668"/>
              </a:buClr>
              <a:buSzPts val="2200"/>
              <a:buChar char="●"/>
            </a:pPr>
            <a:r>
              <a:rPr lang="en-US" sz="2200">
                <a:solidFill>
                  <a:srgbClr val="695D46"/>
                </a:solidFill>
              </a:rPr>
              <a:t>Puede cargar cualquier cantidad de títulos académicos: institución y nombre del título.</a:t>
            </a:r>
            <a:endParaRPr sz="2200">
              <a:solidFill>
                <a:srgbClr val="695D46"/>
              </a:solidFill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9668"/>
              </a:buClr>
              <a:buSzPts val="2200"/>
              <a:buChar char="●"/>
            </a:pPr>
            <a:r>
              <a:rPr lang="en-US" sz="2200">
                <a:solidFill>
                  <a:srgbClr val="695D46"/>
                </a:solidFill>
              </a:rPr>
              <a:t>Lo único que importa: cuando alguien entra a un perfil, tiene que verlo todo junto en una sola pantalla — la más visitada del sitio.</a:t>
            </a:r>
            <a:endParaRPr sz="2200">
              <a:solidFill>
                <a:srgbClr val="695D4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009668"/>
                </a:solidFill>
              </a:rPr>
              <a:t>Modelo físico (relacional)</a:t>
            </a:r>
            <a:endParaRPr b="1">
              <a:solidFill>
                <a:srgbClr val="009668"/>
              </a:solidFill>
            </a:endParaRPr>
          </a:p>
        </p:txBody>
      </p:sp>
      <p:sp>
        <p:nvSpPr>
          <p:cNvPr id="1001" name="Body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200"/>
              <a:buChar char="●"/>
            </a:pPr>
            <a:r>
              <a:rPr lang="en-US" sz="2200" dirty="0">
                <a:solidFill>
                  <a:srgbClr val="695D46"/>
                </a:solidFill>
              </a:rPr>
              <a:t>Modelo </a:t>
            </a:r>
            <a:r>
              <a:rPr lang="en-US" sz="2200" dirty="0" err="1">
                <a:solidFill>
                  <a:srgbClr val="695D46"/>
                </a:solidFill>
              </a:rPr>
              <a:t>relacional</a:t>
            </a:r>
            <a:r>
              <a:rPr lang="en-US" sz="2200" dirty="0">
                <a:solidFill>
                  <a:srgbClr val="695D46"/>
                </a:solidFill>
              </a:rPr>
              <a:t> (3FN): </a:t>
            </a:r>
            <a:r>
              <a:rPr lang="en-US" sz="2200" dirty="0" err="1">
                <a:solidFill>
                  <a:srgbClr val="695D46"/>
                </a:solidFill>
              </a:rPr>
              <a:t>entidades</a:t>
            </a:r>
            <a:r>
              <a:rPr lang="en-US" sz="2200" dirty="0">
                <a:solidFill>
                  <a:srgbClr val="695D46"/>
                </a:solidFill>
              </a:rPr>
              <a:t>, </a:t>
            </a:r>
            <a:r>
              <a:rPr lang="en-US" sz="2200" dirty="0" err="1">
                <a:solidFill>
                  <a:srgbClr val="695D46"/>
                </a:solidFill>
              </a:rPr>
              <a:t>atributos</a:t>
            </a:r>
            <a:r>
              <a:rPr lang="en-US" sz="2200" dirty="0">
                <a:solidFill>
                  <a:srgbClr val="695D46"/>
                </a:solidFill>
              </a:rPr>
              <a:t> y claves </a:t>
            </a:r>
            <a:r>
              <a:rPr lang="en-US" sz="2200" dirty="0" err="1">
                <a:solidFill>
                  <a:srgbClr val="695D46"/>
                </a:solidFill>
              </a:rPr>
              <a:t>foráneas</a:t>
            </a:r>
            <a:endParaRPr lang="en-US" sz="2200" dirty="0">
              <a:solidFill>
                <a:srgbClr val="695D46"/>
              </a:solidFill>
            </a:endParaRP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200"/>
              <a:buNone/>
            </a:pPr>
            <a:endParaRPr sz="2200" dirty="0">
              <a:solidFill>
                <a:srgbClr val="695D46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30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USUARIOS(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id_usuario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apellido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bio)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30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EXPERIENCIA(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id_exp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id_usuario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(FK),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empresa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cargo,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anio_inicio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anio_fin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30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EDUCACION(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id_edu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id_usuario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(FK),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institucion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titulo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009668"/>
                </a:solidFill>
              </a:rPr>
              <a:t>Una consulta muy pedida</a:t>
            </a:r>
            <a:endParaRPr b="1">
              <a:solidFill>
                <a:srgbClr val="009668"/>
              </a:solidFill>
            </a:endParaRPr>
          </a:p>
        </p:txBody>
      </p:sp>
      <p:sp>
        <p:nvSpPr>
          <p:cNvPr id="1001" name="Body"/>
          <p:cNvSpPr txBox="1">
            <a:spLocks noGrp="1"/>
          </p:cNvSpPr>
          <p:nvPr>
            <p:ph type="body" idx="1"/>
          </p:nvPr>
        </p:nvSpPr>
        <p:spPr>
          <a:xfrm>
            <a:off x="162046" y="1600200"/>
            <a:ext cx="8524754" cy="499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000"/>
              <a:buChar char="●"/>
            </a:pPr>
            <a:r>
              <a:rPr lang="en-US" sz="2000" dirty="0">
                <a:solidFill>
                  <a:srgbClr val="695D46"/>
                </a:solidFill>
              </a:rPr>
              <a:t>La </a:t>
            </a:r>
            <a:r>
              <a:rPr lang="en-US" sz="2000" dirty="0" err="1">
                <a:solidFill>
                  <a:srgbClr val="695D46"/>
                </a:solidFill>
              </a:rPr>
              <a:t>pantalla</a:t>
            </a:r>
            <a:r>
              <a:rPr lang="en-US" sz="2000" dirty="0">
                <a:solidFill>
                  <a:srgbClr val="695D46"/>
                </a:solidFill>
              </a:rPr>
              <a:t> de </a:t>
            </a:r>
            <a:r>
              <a:rPr lang="en-US" sz="2000" dirty="0" err="1">
                <a:solidFill>
                  <a:srgbClr val="695D46"/>
                </a:solidFill>
              </a:rPr>
              <a:t>perfil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tiene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que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mostrar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todo</a:t>
            </a:r>
            <a:r>
              <a:rPr lang="en-US" sz="2000" dirty="0">
                <a:solidFill>
                  <a:srgbClr val="695D46"/>
                </a:solidFill>
              </a:rPr>
              <a:t> junto: </a:t>
            </a:r>
            <a:r>
              <a:rPr lang="en-US" sz="2000" dirty="0" err="1">
                <a:solidFill>
                  <a:srgbClr val="695D46"/>
                </a:solidFill>
              </a:rPr>
              <a:t>usuario</a:t>
            </a:r>
            <a:r>
              <a:rPr lang="en-US" sz="2000" dirty="0">
                <a:solidFill>
                  <a:srgbClr val="695D46"/>
                </a:solidFill>
              </a:rPr>
              <a:t>, sus </a:t>
            </a:r>
            <a:r>
              <a:rPr lang="en-US" sz="2000" dirty="0" err="1">
                <a:solidFill>
                  <a:srgbClr val="695D46"/>
                </a:solidFill>
              </a:rPr>
              <a:t>experiencias</a:t>
            </a:r>
            <a:r>
              <a:rPr lang="en-US" sz="2000" dirty="0">
                <a:solidFill>
                  <a:srgbClr val="695D46"/>
                </a:solidFill>
              </a:rPr>
              <a:t> y sus </a:t>
            </a:r>
            <a:r>
              <a:rPr lang="en-US" sz="2000" dirty="0" err="1">
                <a:solidFill>
                  <a:srgbClr val="695D46"/>
                </a:solidFill>
              </a:rPr>
              <a:t>títulos</a:t>
            </a:r>
            <a:r>
              <a:rPr lang="en-US" sz="2000" dirty="0">
                <a:solidFill>
                  <a:srgbClr val="695D46"/>
                </a:solidFill>
              </a:rPr>
              <a:t>.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000"/>
              <a:buNone/>
            </a:pPr>
            <a:endParaRPr sz="2000" dirty="0">
              <a:solidFill>
                <a:srgbClr val="695D46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30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u.id_usuario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u.nombre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u.apellido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u.bio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e.empresa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e.cargo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e.anio_inicio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e.anio_fin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ed.institucion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ed.titulo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u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LEFT JOIN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experiencia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e  ON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e.id_usuario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u.id_usuario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LEFT JOIN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educacion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ed ON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ed.id_usuario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u.id_usuario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u.id_usuario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= 5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9668"/>
              </a:buClr>
              <a:buSzPts val="2000"/>
              <a:buChar char="●"/>
            </a:pPr>
            <a:r>
              <a:rPr lang="en-US" sz="2000" dirty="0">
                <a:solidFill>
                  <a:srgbClr val="695D46"/>
                </a:solidFill>
              </a:rPr>
              <a:t>Si el </a:t>
            </a:r>
            <a:r>
              <a:rPr lang="en-US" sz="2000" dirty="0" err="1">
                <a:solidFill>
                  <a:srgbClr val="695D46"/>
                </a:solidFill>
              </a:rPr>
              <a:t>usuario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tiene</a:t>
            </a:r>
            <a:r>
              <a:rPr lang="en-US" sz="2000" dirty="0">
                <a:solidFill>
                  <a:srgbClr val="695D46"/>
                </a:solidFill>
              </a:rPr>
              <a:t> 5 </a:t>
            </a:r>
            <a:r>
              <a:rPr lang="en-US" sz="2000" dirty="0" err="1">
                <a:solidFill>
                  <a:srgbClr val="695D46"/>
                </a:solidFill>
              </a:rPr>
              <a:t>experiencias</a:t>
            </a:r>
            <a:r>
              <a:rPr lang="en-US" sz="2000" dirty="0">
                <a:solidFill>
                  <a:srgbClr val="695D46"/>
                </a:solidFill>
              </a:rPr>
              <a:t> y 3 </a:t>
            </a:r>
            <a:r>
              <a:rPr lang="en-US" sz="2000" dirty="0" err="1">
                <a:solidFill>
                  <a:srgbClr val="695D46"/>
                </a:solidFill>
              </a:rPr>
              <a:t>títulos</a:t>
            </a:r>
            <a:r>
              <a:rPr lang="en-US" sz="2000" dirty="0">
                <a:solidFill>
                  <a:srgbClr val="695D46"/>
                </a:solidFill>
              </a:rPr>
              <a:t>, ¿</a:t>
            </a:r>
            <a:r>
              <a:rPr lang="en-US" sz="2000" dirty="0" err="1">
                <a:solidFill>
                  <a:srgbClr val="695D46"/>
                </a:solidFill>
              </a:rPr>
              <a:t>cuántas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filas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devuelve</a:t>
            </a:r>
            <a:r>
              <a:rPr lang="en-US" sz="2000" dirty="0">
                <a:solidFill>
                  <a:srgbClr val="695D46"/>
                </a:solidFill>
              </a:rPr>
              <a:t>? ¿Por </a:t>
            </a:r>
            <a:r>
              <a:rPr lang="en-US" sz="2000" dirty="0" err="1">
                <a:solidFill>
                  <a:srgbClr val="695D46"/>
                </a:solidFill>
              </a:rPr>
              <a:t>qué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vienen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repetidos</a:t>
            </a:r>
            <a:r>
              <a:rPr lang="en-US" sz="2000" dirty="0">
                <a:solidFill>
                  <a:srgbClr val="695D46"/>
                </a:solidFill>
              </a:rPr>
              <a:t> el </a:t>
            </a:r>
            <a:r>
              <a:rPr lang="en-US" sz="2000" dirty="0" err="1">
                <a:solidFill>
                  <a:srgbClr val="695D46"/>
                </a:solidFill>
              </a:rPr>
              <a:t>nombre</a:t>
            </a:r>
            <a:r>
              <a:rPr lang="en-US" sz="2000" dirty="0">
                <a:solidFill>
                  <a:srgbClr val="695D46"/>
                </a:solidFill>
              </a:rPr>
              <a:t> y la bio?</a:t>
            </a:r>
            <a:endParaRPr sz="2000" dirty="0">
              <a:solidFill>
                <a:srgbClr val="695D4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009668"/>
                </a:solidFill>
              </a:rPr>
              <a:t>¿Qué significa denormalizar?</a:t>
            </a:r>
            <a:endParaRPr b="1">
              <a:solidFill>
                <a:srgbClr val="009668"/>
              </a:solidFill>
            </a:endParaRPr>
          </a:p>
        </p:txBody>
      </p:sp>
      <p:sp>
        <p:nvSpPr>
          <p:cNvPr id="1001" name="Body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 dirty="0">
                <a:solidFill>
                  <a:srgbClr val="695D46"/>
                </a:solidFill>
              </a:rPr>
              <a:t>En </a:t>
            </a:r>
            <a:r>
              <a:rPr lang="en-US" sz="2000" dirty="0" err="1">
                <a:solidFill>
                  <a:srgbClr val="695D46"/>
                </a:solidFill>
              </a:rPr>
              <a:t>vez</a:t>
            </a:r>
            <a:r>
              <a:rPr lang="en-US" sz="2000" dirty="0">
                <a:solidFill>
                  <a:srgbClr val="695D46"/>
                </a:solidFill>
              </a:rPr>
              <a:t> de </a:t>
            </a:r>
            <a:r>
              <a:rPr lang="en-US" sz="2000" dirty="0" err="1">
                <a:solidFill>
                  <a:srgbClr val="695D46"/>
                </a:solidFill>
              </a:rPr>
              <a:t>separar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los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datos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según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reglas</a:t>
            </a:r>
            <a:r>
              <a:rPr lang="en-US" sz="2000" dirty="0">
                <a:solidFill>
                  <a:srgbClr val="695D46"/>
                </a:solidFill>
              </a:rPr>
              <a:t> de </a:t>
            </a:r>
            <a:r>
              <a:rPr lang="en-US" sz="2000" dirty="0" err="1">
                <a:solidFill>
                  <a:srgbClr val="695D46"/>
                </a:solidFill>
              </a:rPr>
              <a:t>diseño</a:t>
            </a:r>
            <a:r>
              <a:rPr lang="en-US" sz="2000" dirty="0">
                <a:solidFill>
                  <a:srgbClr val="695D46"/>
                </a:solidFill>
              </a:rPr>
              <a:t> (</a:t>
            </a:r>
            <a:r>
              <a:rPr lang="en-US" sz="2000" dirty="0" err="1">
                <a:solidFill>
                  <a:srgbClr val="695D46"/>
                </a:solidFill>
              </a:rPr>
              <a:t>evitar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redundancia</a:t>
            </a:r>
            <a:r>
              <a:rPr lang="en-US" sz="2000" dirty="0">
                <a:solidFill>
                  <a:srgbClr val="695D46"/>
                </a:solidFill>
              </a:rPr>
              <a:t>, 3FN), </a:t>
            </a:r>
            <a:r>
              <a:rPr lang="en-US" sz="2000" dirty="0" err="1">
                <a:solidFill>
                  <a:srgbClr val="695D46"/>
                </a:solidFill>
              </a:rPr>
              <a:t>los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agrupamos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según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cómo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los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va</a:t>
            </a:r>
            <a:r>
              <a:rPr lang="en-US" sz="2000" dirty="0">
                <a:solidFill>
                  <a:srgbClr val="695D46"/>
                </a:solidFill>
              </a:rPr>
              <a:t> a leer la </a:t>
            </a:r>
            <a:r>
              <a:rPr lang="en-US" sz="2000" dirty="0" err="1">
                <a:solidFill>
                  <a:srgbClr val="695D46"/>
                </a:solidFill>
              </a:rPr>
              <a:t>aplicación</a:t>
            </a:r>
            <a:r>
              <a:rPr lang="en-US" sz="2000" dirty="0">
                <a:solidFill>
                  <a:srgbClr val="695D46"/>
                </a:solidFill>
              </a:rPr>
              <a:t>.</a:t>
            </a:r>
            <a:endParaRPr sz="2000" dirty="0">
              <a:solidFill>
                <a:srgbClr val="695D46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2000" dirty="0">
                <a:solidFill>
                  <a:srgbClr val="695D46"/>
                </a:solidFill>
              </a:rPr>
              <a:t>El </a:t>
            </a:r>
            <a:r>
              <a:rPr lang="en-US" sz="2000" dirty="0" err="1">
                <a:solidFill>
                  <a:srgbClr val="695D46"/>
                </a:solidFill>
              </a:rPr>
              <a:t>perfil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siempre</a:t>
            </a:r>
            <a:r>
              <a:rPr lang="en-US" sz="2000" dirty="0">
                <a:solidFill>
                  <a:srgbClr val="695D46"/>
                </a:solidFill>
              </a:rPr>
              <a:t> se </a:t>
            </a:r>
            <a:r>
              <a:rPr lang="en-US" sz="2000" dirty="0" err="1">
                <a:solidFill>
                  <a:srgbClr val="695D46"/>
                </a:solidFill>
              </a:rPr>
              <a:t>pide</a:t>
            </a:r>
            <a:r>
              <a:rPr lang="en-US" sz="2000" dirty="0">
                <a:solidFill>
                  <a:srgbClr val="695D46"/>
                </a:solidFill>
              </a:rPr>
              <a:t> junto: </a:t>
            </a:r>
            <a:r>
              <a:rPr lang="en-US" sz="2000" dirty="0" err="1">
                <a:solidFill>
                  <a:srgbClr val="695D46"/>
                </a:solidFill>
              </a:rPr>
              <a:t>usuario</a:t>
            </a:r>
            <a:r>
              <a:rPr lang="en-US" sz="2000" dirty="0">
                <a:solidFill>
                  <a:srgbClr val="695D46"/>
                </a:solidFill>
              </a:rPr>
              <a:t>, </a:t>
            </a:r>
            <a:r>
              <a:rPr lang="en-US" sz="2000" dirty="0" err="1">
                <a:solidFill>
                  <a:srgbClr val="695D46"/>
                </a:solidFill>
              </a:rPr>
              <a:t>experiencias</a:t>
            </a:r>
            <a:r>
              <a:rPr lang="en-US" sz="2000" dirty="0">
                <a:solidFill>
                  <a:srgbClr val="695D46"/>
                </a:solidFill>
              </a:rPr>
              <a:t> y </a:t>
            </a:r>
            <a:r>
              <a:rPr lang="en-US" sz="2000" dirty="0" err="1">
                <a:solidFill>
                  <a:srgbClr val="695D46"/>
                </a:solidFill>
              </a:rPr>
              <a:t>títulos</a:t>
            </a:r>
            <a:r>
              <a:rPr lang="en-US" sz="2000" dirty="0">
                <a:solidFill>
                  <a:srgbClr val="695D46"/>
                </a:solidFill>
              </a:rPr>
              <a:t>. Si </a:t>
            </a:r>
            <a:r>
              <a:rPr lang="en-US" sz="2000" dirty="0" err="1">
                <a:solidFill>
                  <a:srgbClr val="695D46"/>
                </a:solidFill>
              </a:rPr>
              <a:t>siempre</a:t>
            </a:r>
            <a:r>
              <a:rPr lang="en-US" sz="2000" dirty="0">
                <a:solidFill>
                  <a:srgbClr val="695D46"/>
                </a:solidFill>
              </a:rPr>
              <a:t> se lee junto, ¿</a:t>
            </a:r>
            <a:r>
              <a:rPr lang="en-US" sz="2000" dirty="0" err="1">
                <a:solidFill>
                  <a:srgbClr val="695D46"/>
                </a:solidFill>
              </a:rPr>
              <a:t>por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qué</a:t>
            </a:r>
            <a:r>
              <a:rPr lang="en-US" sz="2000" dirty="0">
                <a:solidFill>
                  <a:srgbClr val="695D46"/>
                </a:solidFill>
              </a:rPr>
              <a:t> no </a:t>
            </a:r>
            <a:r>
              <a:rPr lang="en-US" sz="2000" dirty="0" err="1">
                <a:solidFill>
                  <a:srgbClr val="695D46"/>
                </a:solidFill>
              </a:rPr>
              <a:t>guardarlo</a:t>
            </a:r>
            <a:r>
              <a:rPr lang="en-US" sz="2000" dirty="0">
                <a:solidFill>
                  <a:srgbClr val="695D46"/>
                </a:solidFill>
              </a:rPr>
              <a:t> junto?</a:t>
            </a:r>
            <a:endParaRPr sz="2000" dirty="0">
              <a:solidFill>
                <a:srgbClr val="695D46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2000" dirty="0">
                <a:solidFill>
                  <a:srgbClr val="695D46"/>
                </a:solidFill>
              </a:rPr>
              <a:t>El </a:t>
            </a:r>
            <a:r>
              <a:rPr lang="en-US" sz="2000" dirty="0" err="1">
                <a:solidFill>
                  <a:srgbClr val="695D46"/>
                </a:solidFill>
              </a:rPr>
              <a:t>costo</a:t>
            </a:r>
            <a:r>
              <a:rPr lang="en-US" sz="2000" dirty="0">
                <a:solidFill>
                  <a:srgbClr val="695D46"/>
                </a:solidFill>
              </a:rPr>
              <a:t>: se </a:t>
            </a:r>
            <a:r>
              <a:rPr lang="en-US" sz="2000" dirty="0" err="1">
                <a:solidFill>
                  <a:srgbClr val="695D46"/>
                </a:solidFill>
              </a:rPr>
              <a:t>duplica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información</a:t>
            </a:r>
            <a:r>
              <a:rPr lang="en-US" sz="2000" dirty="0">
                <a:solidFill>
                  <a:srgbClr val="695D46"/>
                </a:solidFill>
              </a:rPr>
              <a:t> y </a:t>
            </a:r>
            <a:r>
              <a:rPr lang="en-US" sz="2000" dirty="0" err="1">
                <a:solidFill>
                  <a:srgbClr val="695D46"/>
                </a:solidFill>
              </a:rPr>
              <a:t>actualizar</a:t>
            </a:r>
            <a:r>
              <a:rPr lang="en-US" sz="2000" dirty="0">
                <a:solidFill>
                  <a:srgbClr val="695D46"/>
                </a:solidFill>
              </a:rPr>
              <a:t> ese </a:t>
            </a:r>
            <a:r>
              <a:rPr lang="en-US" sz="2000" dirty="0" err="1">
                <a:solidFill>
                  <a:srgbClr val="695D46"/>
                </a:solidFill>
              </a:rPr>
              <a:t>dato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duplicado</a:t>
            </a:r>
            <a:r>
              <a:rPr lang="en-US" sz="2000" dirty="0">
                <a:solidFill>
                  <a:srgbClr val="695D46"/>
                </a:solidFill>
              </a:rPr>
              <a:t> sale </a:t>
            </a:r>
            <a:r>
              <a:rPr lang="en-US" sz="2000" dirty="0" err="1">
                <a:solidFill>
                  <a:srgbClr val="695D46"/>
                </a:solidFill>
              </a:rPr>
              <a:t>más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caro</a:t>
            </a:r>
            <a:r>
              <a:rPr lang="en-US" sz="2000" dirty="0">
                <a:solidFill>
                  <a:srgbClr val="695D46"/>
                </a:solidFill>
              </a:rPr>
              <a:t>.</a:t>
            </a:r>
            <a:endParaRPr sz="2000" dirty="0">
              <a:solidFill>
                <a:srgbClr val="695D46"/>
              </a:solidFill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9668"/>
              </a:buClr>
              <a:buSzPts val="2000"/>
              <a:buChar char="●"/>
            </a:pPr>
            <a:r>
              <a:rPr lang="en-US" sz="2000" dirty="0">
                <a:solidFill>
                  <a:srgbClr val="695D46"/>
                </a:solidFill>
              </a:rPr>
              <a:t>Vamos a </a:t>
            </a:r>
            <a:r>
              <a:rPr lang="en-US" sz="2000" dirty="0" err="1">
                <a:solidFill>
                  <a:srgbClr val="695D46"/>
                </a:solidFill>
              </a:rPr>
              <a:t>denormalizar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este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modelo</a:t>
            </a:r>
            <a:r>
              <a:rPr lang="en-US" sz="2000" dirty="0">
                <a:solidFill>
                  <a:srgbClr val="695D46"/>
                </a:solidFill>
              </a:rPr>
              <a:t>.</a:t>
            </a:r>
            <a:endParaRPr sz="2000" dirty="0">
              <a:solidFill>
                <a:srgbClr val="695D4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009668"/>
                </a:solidFill>
              </a:rPr>
              <a:t>Modelo en Mongo: el documento (1/2)</a:t>
            </a:r>
            <a:endParaRPr b="1">
              <a:solidFill>
                <a:srgbClr val="009668"/>
              </a:solidFill>
            </a:endParaRPr>
          </a:p>
        </p:txBody>
      </p:sp>
      <p:sp>
        <p:nvSpPr>
          <p:cNvPr id="1001" name="Body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000"/>
              <a:buChar char="●"/>
            </a:pPr>
            <a:r>
              <a:rPr lang="en-US" sz="2000" dirty="0" err="1">
                <a:solidFill>
                  <a:srgbClr val="695D46"/>
                </a:solidFill>
              </a:rPr>
              <a:t>Documento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embebido</a:t>
            </a:r>
            <a:r>
              <a:rPr lang="en-US" sz="2000" dirty="0">
                <a:solidFill>
                  <a:srgbClr val="695D46"/>
                </a:solidFill>
              </a:rPr>
              <a:t>: el </a:t>
            </a:r>
            <a:r>
              <a:rPr lang="en-US" sz="2000" dirty="0" err="1">
                <a:solidFill>
                  <a:srgbClr val="695D46"/>
                </a:solidFill>
              </a:rPr>
              <a:t>usuario</a:t>
            </a:r>
            <a:r>
              <a:rPr lang="en-US" sz="2000" dirty="0">
                <a:solidFill>
                  <a:srgbClr val="695D46"/>
                </a:solidFill>
              </a:rPr>
              <a:t>, sus </a:t>
            </a:r>
            <a:r>
              <a:rPr lang="en-US" sz="2000" dirty="0" err="1">
                <a:solidFill>
                  <a:srgbClr val="695D46"/>
                </a:solidFill>
              </a:rPr>
              <a:t>experiencias</a:t>
            </a:r>
            <a:r>
              <a:rPr lang="en-US" sz="2000" dirty="0">
                <a:solidFill>
                  <a:srgbClr val="695D46"/>
                </a:solidFill>
              </a:rPr>
              <a:t> y sus </a:t>
            </a:r>
            <a:r>
              <a:rPr lang="en-US" sz="2000" dirty="0" err="1">
                <a:solidFill>
                  <a:srgbClr val="695D46"/>
                </a:solidFill>
              </a:rPr>
              <a:t>títulos</a:t>
            </a:r>
            <a:r>
              <a:rPr lang="en-US" sz="2000" dirty="0">
                <a:solidFill>
                  <a:srgbClr val="695D46"/>
                </a:solidFill>
              </a:rPr>
              <a:t>, </a:t>
            </a:r>
            <a:r>
              <a:rPr lang="en-US" sz="2000" dirty="0" err="1">
                <a:solidFill>
                  <a:srgbClr val="695D46"/>
                </a:solidFill>
              </a:rPr>
              <a:t>todo</a:t>
            </a:r>
            <a:r>
              <a:rPr lang="en-US" sz="2000" dirty="0">
                <a:solidFill>
                  <a:srgbClr val="695D46"/>
                </a:solidFill>
              </a:rPr>
              <a:t> junto</a:t>
            </a:r>
            <a:endParaRPr sz="2000" dirty="0">
              <a:solidFill>
                <a:srgbClr val="695D46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CF3101-A0FA-730A-0B45-5DA9D5F9CE2D}"/>
              </a:ext>
            </a:extLst>
          </p:cNvPr>
          <p:cNvSpPr txBox="1"/>
          <p:nvPr/>
        </p:nvSpPr>
        <p:spPr>
          <a:xfrm>
            <a:off x="662649" y="2540905"/>
            <a:ext cx="3770455" cy="433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"_id": ...,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"nombre": ...,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"apellido": ...,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"bio": ...,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"experiencia": [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  "empresa": ...,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  "cargo": ...,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  "</a:t>
            </a:r>
            <a:r>
              <a:rPr lang="es-E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anio_inicio</a:t>
            </a: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": ...,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  "</a:t>
            </a:r>
            <a:r>
              <a:rPr lang="es-E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anio_fin</a:t>
            </a: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": ...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</a:p>
          <a:p>
            <a:endParaRPr lang="es-AR" sz="1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5BDE37-7E66-54FE-15D0-C853E1FC409E}"/>
              </a:ext>
            </a:extLst>
          </p:cNvPr>
          <p:cNvSpPr txBox="1"/>
          <p:nvPr/>
        </p:nvSpPr>
        <p:spPr>
          <a:xfrm>
            <a:off x="4794285" y="3242253"/>
            <a:ext cx="3687065" cy="221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lang="es-E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educacion</a:t>
            </a: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": [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  "</a:t>
            </a:r>
            <a:r>
              <a:rPr lang="es-E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institucion</a:t>
            </a: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": ...,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  "titulo": ...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]</a:t>
            </a:r>
          </a:p>
          <a:p>
            <a:pPr lvl="0">
              <a:lnSpc>
                <a:spcPct val="110000"/>
              </a:lnSpc>
              <a:spcBef>
                <a:spcPts val="40"/>
              </a:spcBef>
              <a:buSzPct val="100000"/>
            </a:pPr>
            <a:r>
              <a:rPr lang="es-E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s-AR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009668"/>
                </a:solidFill>
              </a:rPr>
              <a:t>Modelo en Mongo: la consulta (2/2)</a:t>
            </a:r>
            <a:endParaRPr b="1">
              <a:solidFill>
                <a:srgbClr val="009668"/>
              </a:solidFill>
            </a:endParaRPr>
          </a:p>
        </p:txBody>
      </p:sp>
      <p:sp>
        <p:nvSpPr>
          <p:cNvPr id="1001" name="Body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200"/>
              <a:buChar char="●"/>
            </a:pPr>
            <a:r>
              <a:rPr lang="en-US" sz="2200" dirty="0">
                <a:solidFill>
                  <a:srgbClr val="695D46"/>
                </a:solidFill>
              </a:rPr>
              <a:t>La consulta es </a:t>
            </a:r>
            <a:r>
              <a:rPr lang="en-US" sz="2200" dirty="0" err="1">
                <a:solidFill>
                  <a:srgbClr val="695D46"/>
                </a:solidFill>
              </a:rPr>
              <a:t>una</a:t>
            </a:r>
            <a:r>
              <a:rPr lang="en-US" sz="2200" dirty="0">
                <a:solidFill>
                  <a:srgbClr val="695D46"/>
                </a:solidFill>
              </a:rPr>
              <a:t> sola </a:t>
            </a:r>
            <a:r>
              <a:rPr lang="en-US" sz="2200" dirty="0" err="1">
                <a:solidFill>
                  <a:srgbClr val="695D46"/>
                </a:solidFill>
              </a:rPr>
              <a:t>línea</a:t>
            </a:r>
            <a:r>
              <a:rPr lang="en-US" sz="2200" dirty="0">
                <a:solidFill>
                  <a:srgbClr val="695D46"/>
                </a:solidFill>
              </a:rPr>
              <a:t>:</a:t>
            </a:r>
            <a:endParaRPr sz="2200" dirty="0">
              <a:solidFill>
                <a:srgbClr val="695D46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sz="24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db.perfiles.find</a:t>
            </a:r>
            <a:r>
              <a:rPr lang="en-US" sz="24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({ _id: 5 })</a:t>
            </a:r>
            <a:endParaRPr sz="24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9668"/>
              </a:buClr>
              <a:buSzPts val="2000"/>
              <a:buChar char="●"/>
            </a:pPr>
            <a:r>
              <a:rPr lang="en-US" sz="2000" dirty="0">
                <a:solidFill>
                  <a:srgbClr val="695D46"/>
                </a:solidFill>
              </a:rPr>
              <a:t>Un solo round-trip. El </a:t>
            </a:r>
            <a:r>
              <a:rPr lang="en-US" sz="2000" dirty="0" err="1">
                <a:solidFill>
                  <a:srgbClr val="695D46"/>
                </a:solidFill>
              </a:rPr>
              <a:t>documento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que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devuelve</a:t>
            </a:r>
            <a:r>
              <a:rPr lang="en-US" sz="2000" dirty="0">
                <a:solidFill>
                  <a:srgbClr val="695D46"/>
                </a:solidFill>
              </a:rPr>
              <a:t> Mongo </a:t>
            </a:r>
            <a:r>
              <a:rPr lang="en-US" sz="2000" dirty="0" err="1">
                <a:solidFill>
                  <a:srgbClr val="695D46"/>
                </a:solidFill>
              </a:rPr>
              <a:t>ya</a:t>
            </a:r>
            <a:r>
              <a:rPr lang="en-US" sz="2000" dirty="0">
                <a:solidFill>
                  <a:srgbClr val="695D46"/>
                </a:solidFill>
              </a:rPr>
              <a:t> es el JSON </a:t>
            </a:r>
            <a:r>
              <a:rPr lang="en-US" sz="2000" dirty="0" err="1">
                <a:solidFill>
                  <a:srgbClr val="695D46"/>
                </a:solidFill>
              </a:rPr>
              <a:t>que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necesita</a:t>
            </a:r>
            <a:r>
              <a:rPr lang="en-US" sz="2000" dirty="0">
                <a:solidFill>
                  <a:srgbClr val="695D46"/>
                </a:solidFill>
              </a:rPr>
              <a:t> el frontend.</a:t>
            </a:r>
            <a:endParaRPr sz="2000" dirty="0">
              <a:solidFill>
                <a:srgbClr val="695D46"/>
              </a:solidFill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9668"/>
              </a:buClr>
              <a:buSzPts val="2000"/>
              <a:buChar char="●"/>
            </a:pPr>
            <a:r>
              <a:rPr lang="en-US" sz="2000" dirty="0">
                <a:solidFill>
                  <a:srgbClr val="695D46"/>
                </a:solidFill>
              </a:rPr>
              <a:t>No hay </a:t>
            </a:r>
            <a:r>
              <a:rPr lang="en-US" sz="2000" dirty="0" err="1">
                <a:solidFill>
                  <a:srgbClr val="695D46"/>
                </a:solidFill>
              </a:rPr>
              <a:t>que</a:t>
            </a:r>
            <a:r>
              <a:rPr lang="en-US" sz="2000" dirty="0">
                <a:solidFill>
                  <a:srgbClr val="695D46"/>
                </a:solidFill>
              </a:rPr>
              <a:t> de-</a:t>
            </a:r>
            <a:r>
              <a:rPr lang="en-US" sz="2000" dirty="0" err="1">
                <a:solidFill>
                  <a:srgbClr val="695D46"/>
                </a:solidFill>
              </a:rPr>
              <a:t>duplicar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ni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reconstruir</a:t>
            </a:r>
            <a:r>
              <a:rPr lang="en-US" sz="2000" dirty="0">
                <a:solidFill>
                  <a:srgbClr val="695D46"/>
                </a:solidFill>
              </a:rPr>
              <a:t> nada del </a:t>
            </a:r>
            <a:r>
              <a:rPr lang="en-US" sz="2000" dirty="0" err="1">
                <a:solidFill>
                  <a:srgbClr val="695D46"/>
                </a:solidFill>
              </a:rPr>
              <a:t>lado</a:t>
            </a:r>
            <a:r>
              <a:rPr lang="en-US" sz="2000" dirty="0">
                <a:solidFill>
                  <a:srgbClr val="695D46"/>
                </a:solidFill>
              </a:rPr>
              <a:t> del backend.</a:t>
            </a:r>
            <a:endParaRPr sz="2000" dirty="0">
              <a:solidFill>
                <a:srgbClr val="695D4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009668"/>
                </a:solidFill>
              </a:rPr>
              <a:t>¿Mongo </a:t>
            </a:r>
            <a:r>
              <a:rPr lang="en-US" b="1" dirty="0" err="1">
                <a:solidFill>
                  <a:srgbClr val="009668"/>
                </a:solidFill>
              </a:rPr>
              <a:t>siempre</a:t>
            </a:r>
            <a:r>
              <a:rPr lang="en-US" b="1" dirty="0">
                <a:solidFill>
                  <a:srgbClr val="009668"/>
                </a:solidFill>
              </a:rPr>
              <a:t> </a:t>
            </a:r>
            <a:r>
              <a:rPr lang="en-US" b="1" dirty="0" err="1">
                <a:solidFill>
                  <a:srgbClr val="009668"/>
                </a:solidFill>
              </a:rPr>
              <a:t>gana</a:t>
            </a:r>
            <a:r>
              <a:rPr lang="en-US" b="1" dirty="0">
                <a:solidFill>
                  <a:srgbClr val="009668"/>
                </a:solidFill>
              </a:rPr>
              <a:t>? — Mongo (1/2)</a:t>
            </a:r>
            <a:endParaRPr b="1" dirty="0">
              <a:solidFill>
                <a:srgbClr val="009668"/>
              </a:solidFill>
            </a:endParaRPr>
          </a:p>
        </p:txBody>
      </p:sp>
      <p:sp>
        <p:nvSpPr>
          <p:cNvPr id="1001" name="Body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000"/>
              <a:buChar char="●"/>
            </a:pPr>
            <a:r>
              <a:rPr lang="en-US" sz="2000" dirty="0">
                <a:solidFill>
                  <a:srgbClr val="695D46"/>
                </a:solidFill>
              </a:rPr>
              <a:t>¿</a:t>
            </a:r>
            <a:r>
              <a:rPr lang="en-US" sz="2000" dirty="0" err="1">
                <a:solidFill>
                  <a:srgbClr val="695D46"/>
                </a:solidFill>
              </a:rPr>
              <a:t>Cuáles</a:t>
            </a:r>
            <a:r>
              <a:rPr lang="en-US" sz="2000" dirty="0">
                <a:solidFill>
                  <a:srgbClr val="695D46"/>
                </a:solidFill>
              </a:rPr>
              <a:t> son las 5 </a:t>
            </a:r>
            <a:r>
              <a:rPr lang="en-US" sz="2000" dirty="0" err="1">
                <a:solidFill>
                  <a:srgbClr val="695D46"/>
                </a:solidFill>
              </a:rPr>
              <a:t>empresas</a:t>
            </a:r>
            <a:r>
              <a:rPr lang="en-US" sz="2000" dirty="0">
                <a:solidFill>
                  <a:srgbClr val="695D46"/>
                </a:solidFill>
              </a:rPr>
              <a:t> con </a:t>
            </a:r>
            <a:r>
              <a:rPr lang="en-US" sz="2000" dirty="0" err="1">
                <a:solidFill>
                  <a:srgbClr val="695D46"/>
                </a:solidFill>
              </a:rPr>
              <a:t>más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experiencias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laborales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cargadas</a:t>
            </a:r>
            <a:r>
              <a:rPr lang="en-US" sz="2000" dirty="0">
                <a:solidFill>
                  <a:srgbClr val="695D46"/>
                </a:solidFill>
              </a:rPr>
              <a:t>?</a:t>
            </a:r>
            <a:endParaRPr sz="2000" dirty="0">
              <a:solidFill>
                <a:srgbClr val="695D46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 lang="en-US" sz="1900" dirty="0">
              <a:solidFill>
                <a:srgbClr val="695D46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sz="1900" dirty="0">
                <a:solidFill>
                  <a:srgbClr val="695D46"/>
                </a:solidFill>
              </a:rPr>
              <a:t>Hay </a:t>
            </a:r>
            <a:r>
              <a:rPr lang="en-US" sz="1900" dirty="0" err="1">
                <a:solidFill>
                  <a:srgbClr val="695D46"/>
                </a:solidFill>
              </a:rPr>
              <a:t>que</a:t>
            </a:r>
            <a:r>
              <a:rPr lang="en-US" sz="1900" dirty="0">
                <a:solidFill>
                  <a:srgbClr val="695D46"/>
                </a:solidFill>
              </a:rPr>
              <a:t> </a:t>
            </a:r>
            <a:r>
              <a:rPr lang="en-US" sz="1900" dirty="0" err="1">
                <a:solidFill>
                  <a:srgbClr val="695D46"/>
                </a:solidFill>
              </a:rPr>
              <a:t>desarmar</a:t>
            </a:r>
            <a:r>
              <a:rPr lang="en-US" sz="1900" dirty="0">
                <a:solidFill>
                  <a:srgbClr val="695D46"/>
                </a:solidFill>
              </a:rPr>
              <a:t> el array </a:t>
            </a:r>
            <a:r>
              <a:rPr lang="en-US" sz="1900" dirty="0" err="1">
                <a:solidFill>
                  <a:srgbClr val="695D46"/>
                </a:solidFill>
              </a:rPr>
              <a:t>embebido</a:t>
            </a:r>
            <a:r>
              <a:rPr lang="en-US" sz="1900" dirty="0">
                <a:solidFill>
                  <a:srgbClr val="695D46"/>
                </a:solidFill>
              </a:rPr>
              <a:t> antes de </a:t>
            </a:r>
            <a:r>
              <a:rPr lang="en-US" sz="1900" dirty="0" err="1">
                <a:solidFill>
                  <a:srgbClr val="695D46"/>
                </a:solidFill>
              </a:rPr>
              <a:t>poder</a:t>
            </a:r>
            <a:r>
              <a:rPr lang="en-US" sz="1900" dirty="0">
                <a:solidFill>
                  <a:srgbClr val="695D46"/>
                </a:solidFill>
              </a:rPr>
              <a:t> </a:t>
            </a:r>
            <a:r>
              <a:rPr lang="en-US" sz="1900" dirty="0" err="1">
                <a:solidFill>
                  <a:srgbClr val="695D46"/>
                </a:solidFill>
              </a:rPr>
              <a:t>agrupar</a:t>
            </a:r>
            <a:r>
              <a:rPr lang="en-US" sz="1900" dirty="0">
                <a:solidFill>
                  <a:srgbClr val="695D46"/>
                </a:solidFill>
              </a:rPr>
              <a:t>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endParaRPr sz="1900" dirty="0">
              <a:solidFill>
                <a:srgbClr val="695D46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250"/>
              </a:spcBef>
              <a:buSzPct val="100000"/>
              <a:buNone/>
            </a:pP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db.perfiles.aggregate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{ $unwind: "$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experiencia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" },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{ $group: { _id: "$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experiencia.empresa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", total: { $sum: 1 } } },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{ $sort: { total: -1 } },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  { $limit: 5 }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009668"/>
                </a:solidFill>
              </a:rPr>
              <a:t>¿Mongo siempre gana? — SQL (2/2)</a:t>
            </a:r>
            <a:endParaRPr b="1">
              <a:solidFill>
                <a:srgbClr val="009668"/>
              </a:solidFill>
            </a:endParaRPr>
          </a:p>
        </p:txBody>
      </p:sp>
      <p:sp>
        <p:nvSpPr>
          <p:cNvPr id="1001" name="Body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000"/>
              <a:buChar char="●"/>
            </a:pPr>
            <a:r>
              <a:rPr lang="en-US" sz="2000" dirty="0">
                <a:solidFill>
                  <a:srgbClr val="695D46"/>
                </a:solidFill>
              </a:rPr>
              <a:t>La </a:t>
            </a:r>
            <a:r>
              <a:rPr lang="en-US" sz="2000" dirty="0" err="1">
                <a:solidFill>
                  <a:srgbClr val="695D46"/>
                </a:solidFill>
              </a:rPr>
              <a:t>misma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pregunta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en</a:t>
            </a:r>
            <a:r>
              <a:rPr lang="en-US" sz="2000" dirty="0">
                <a:solidFill>
                  <a:srgbClr val="695D46"/>
                </a:solidFill>
              </a:rPr>
              <a:t> SQL: la </a:t>
            </a:r>
            <a:r>
              <a:rPr lang="en-US" sz="2000" dirty="0" err="1">
                <a:solidFill>
                  <a:srgbClr val="695D46"/>
                </a:solidFill>
              </a:rPr>
              <a:t>tabla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ya</a:t>
            </a:r>
            <a:r>
              <a:rPr lang="en-US" sz="2000" dirty="0">
                <a:solidFill>
                  <a:srgbClr val="695D46"/>
                </a:solidFill>
              </a:rPr>
              <a:t> </a:t>
            </a:r>
            <a:r>
              <a:rPr lang="en-US" sz="2000" dirty="0" err="1">
                <a:solidFill>
                  <a:srgbClr val="695D46"/>
                </a:solidFill>
              </a:rPr>
              <a:t>está</a:t>
            </a:r>
            <a:r>
              <a:rPr lang="en-US" sz="2000" dirty="0">
                <a:solidFill>
                  <a:srgbClr val="695D46"/>
                </a:solidFill>
              </a:rPr>
              <a:t> plana, el GROUP BY es </a:t>
            </a:r>
            <a:r>
              <a:rPr lang="en-US" sz="2000" dirty="0" err="1">
                <a:solidFill>
                  <a:srgbClr val="695D46"/>
                </a:solidFill>
              </a:rPr>
              <a:t>directo</a:t>
            </a:r>
            <a:r>
              <a:rPr lang="en-US" sz="2000" dirty="0">
                <a:solidFill>
                  <a:srgbClr val="695D46"/>
                </a:solidFill>
              </a:rPr>
              <a:t>.</a:t>
            </a:r>
          </a:p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668"/>
              </a:buClr>
              <a:buSzPts val="2000"/>
              <a:buNone/>
            </a:pPr>
            <a:endParaRPr sz="2000" dirty="0">
              <a:solidFill>
                <a:srgbClr val="695D46"/>
              </a:solidFill>
            </a:endParaRPr>
          </a:p>
          <a:p>
            <a:pPr marL="914400" lvl="2" indent="0">
              <a:lnSpc>
                <a:spcPct val="110000"/>
              </a:lnSpc>
              <a:spcBef>
                <a:spcPts val="35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empresa</a:t>
            </a: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, COUNT(*) AS total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2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experiencia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2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GROUP BY </a:t>
            </a:r>
            <a:r>
              <a:rPr lang="en-US" sz="1800" dirty="0" err="1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empresa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2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ORDER BY total DESC</a:t>
            </a:r>
            <a:endParaRPr sz="18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2" indent="0">
              <a:lnSpc>
                <a:spcPct val="110000"/>
              </a:lnSpc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rgbClr val="695D46"/>
                </a:solidFill>
                <a:latin typeface="Courier New"/>
                <a:ea typeface="Courier New"/>
                <a:cs typeface="Courier New"/>
                <a:sym typeface="Courier New"/>
              </a:rPr>
              <a:t>LIMIT 5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2000" dirty="0">
              <a:solidFill>
                <a:srgbClr val="695D4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683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9668"/>
              </a:buClr>
              <a:buSzPts val="1900"/>
              <a:buChar char="●"/>
            </a:pPr>
            <a:r>
              <a:rPr lang="en-US" sz="1900" dirty="0">
                <a:solidFill>
                  <a:srgbClr val="695D46"/>
                </a:solidFill>
              </a:rPr>
              <a:t>La </a:t>
            </a:r>
            <a:r>
              <a:rPr lang="en-US" sz="1900" dirty="0" err="1">
                <a:solidFill>
                  <a:srgbClr val="695D46"/>
                </a:solidFill>
              </a:rPr>
              <a:t>pregunta</a:t>
            </a:r>
            <a:r>
              <a:rPr lang="en-US" sz="1900" dirty="0">
                <a:solidFill>
                  <a:srgbClr val="695D46"/>
                </a:solidFill>
              </a:rPr>
              <a:t> </a:t>
            </a:r>
            <a:r>
              <a:rPr lang="en-US" sz="1900" dirty="0" err="1">
                <a:solidFill>
                  <a:srgbClr val="695D46"/>
                </a:solidFill>
              </a:rPr>
              <a:t>correcta</a:t>
            </a:r>
            <a:r>
              <a:rPr lang="en-US" sz="1900" dirty="0">
                <a:solidFill>
                  <a:srgbClr val="695D46"/>
                </a:solidFill>
              </a:rPr>
              <a:t> no es «¿SQL o NoSQL?», </a:t>
            </a:r>
            <a:r>
              <a:rPr lang="en-US" sz="1900" dirty="0" err="1">
                <a:solidFill>
                  <a:srgbClr val="695D46"/>
                </a:solidFill>
              </a:rPr>
              <a:t>sino</a:t>
            </a:r>
            <a:r>
              <a:rPr lang="en-US" sz="1900" dirty="0">
                <a:solidFill>
                  <a:srgbClr val="695D46"/>
                </a:solidFill>
              </a:rPr>
              <a:t> «¿</a:t>
            </a:r>
            <a:r>
              <a:rPr lang="en-US" sz="1900" dirty="0" err="1">
                <a:solidFill>
                  <a:srgbClr val="695D46"/>
                </a:solidFill>
              </a:rPr>
              <a:t>cuál</a:t>
            </a:r>
            <a:r>
              <a:rPr lang="en-US" sz="1900" dirty="0">
                <a:solidFill>
                  <a:srgbClr val="695D46"/>
                </a:solidFill>
              </a:rPr>
              <a:t> es el </a:t>
            </a:r>
            <a:r>
              <a:rPr lang="en-US" sz="1900" dirty="0" err="1">
                <a:solidFill>
                  <a:srgbClr val="695D46"/>
                </a:solidFill>
              </a:rPr>
              <a:t>patrón</a:t>
            </a:r>
            <a:r>
              <a:rPr lang="en-US" sz="1900" dirty="0">
                <a:solidFill>
                  <a:srgbClr val="695D46"/>
                </a:solidFill>
              </a:rPr>
              <a:t> de </a:t>
            </a:r>
            <a:r>
              <a:rPr lang="en-US" sz="1900" dirty="0" err="1">
                <a:solidFill>
                  <a:srgbClr val="695D46"/>
                </a:solidFill>
              </a:rPr>
              <a:t>acceso</a:t>
            </a:r>
            <a:r>
              <a:rPr lang="en-US" sz="1900" dirty="0">
                <a:solidFill>
                  <a:srgbClr val="695D46"/>
                </a:solidFill>
              </a:rPr>
              <a:t> </a:t>
            </a:r>
            <a:r>
              <a:rPr lang="en-US" sz="1900" dirty="0" err="1">
                <a:solidFill>
                  <a:srgbClr val="695D46"/>
                </a:solidFill>
              </a:rPr>
              <a:t>más</a:t>
            </a:r>
            <a:r>
              <a:rPr lang="en-US" sz="1900" dirty="0">
                <a:solidFill>
                  <a:srgbClr val="695D46"/>
                </a:solidFill>
              </a:rPr>
              <a:t> </a:t>
            </a:r>
            <a:r>
              <a:rPr lang="en-US" sz="1900" dirty="0" err="1">
                <a:solidFill>
                  <a:srgbClr val="695D46"/>
                </a:solidFill>
              </a:rPr>
              <a:t>frecuente</a:t>
            </a:r>
            <a:r>
              <a:rPr lang="en-US" sz="1900" dirty="0">
                <a:solidFill>
                  <a:srgbClr val="695D46"/>
                </a:solidFill>
              </a:rPr>
              <a:t>?»</a:t>
            </a:r>
            <a:endParaRPr sz="1900" dirty="0">
              <a:solidFill>
                <a:srgbClr val="695D4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694</Words>
  <Application>Microsoft Office PowerPoint</Application>
  <PresentationFormat>Presentación en pantalla (4:3)</PresentationFormat>
  <Paragraphs>79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Calibri</vt:lpstr>
      <vt:lpstr>PT Sans Narrow</vt:lpstr>
      <vt:lpstr>Courier New</vt:lpstr>
      <vt:lpstr>Arial</vt:lpstr>
      <vt:lpstr>Open Sans</vt:lpstr>
      <vt:lpstr>Tropic</vt:lpstr>
      <vt:lpstr>Bases de Datos</vt:lpstr>
      <vt:lpstr>Problema: perfil de usuario</vt:lpstr>
      <vt:lpstr>Modelo físico (relacional)</vt:lpstr>
      <vt:lpstr>Una consulta muy pedida</vt:lpstr>
      <vt:lpstr>¿Qué significa denormalizar?</vt:lpstr>
      <vt:lpstr>Modelo en Mongo: el documento (1/2)</vt:lpstr>
      <vt:lpstr>Modelo en Mongo: la consulta (2/2)</vt:lpstr>
      <vt:lpstr>¿Mongo siempre gana? — Mongo (1/2)</vt:lpstr>
      <vt:lpstr>¿Mongo siempre gana? — SQL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Eduardo Miguel</cp:lastModifiedBy>
  <cp:revision>3</cp:revision>
  <dcterms:created xsi:type="dcterms:W3CDTF">2013-01-27T09:14:16Z</dcterms:created>
  <dcterms:modified xsi:type="dcterms:W3CDTF">2026-09-10T15:13:22Z</dcterms:modified>
</cp:coreProperties>
</file>